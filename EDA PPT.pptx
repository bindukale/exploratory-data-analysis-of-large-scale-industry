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6" r:id="rId1"/>
  </p:sldMasterIdLst>
  <p:sldIdLst>
    <p:sldId id="256" r:id="rId2"/>
    <p:sldId id="257" r:id="rId3"/>
    <p:sldId id="258" r:id="rId4"/>
    <p:sldId id="259" r:id="rId5"/>
    <p:sldId id="260" r:id="rId6"/>
    <p:sldId id="266" r:id="rId7"/>
    <p:sldId id="267" r:id="rId8"/>
    <p:sldId id="261" r:id="rId9"/>
    <p:sldId id="268" r:id="rId10"/>
    <p:sldId id="262" r:id="rId11"/>
    <p:sldId id="269" r:id="rId12"/>
    <p:sldId id="270" r:id="rId13"/>
    <p:sldId id="263" r:id="rId14"/>
    <p:sldId id="264" r:id="rId15"/>
    <p:sldId id="26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7200" cap="none" baseline="0">
                <a:blipFill dpi="0" rotWithShape="1">
                  <a:blip r:embed="rId4"/>
                  <a:srcRect/>
                  <a:tile tx="6350" ty="-127000" sx="65000" sy="64000" flip="none" algn="tl"/>
                </a:blipFill>
              </a:defRPr>
            </a:lvl1pPr>
          </a:lstStyle>
          <a:p>
            <a:r>
              <a:rPr lang="en-US" smtClean="0"/>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36E7EB1-C8B5-41DD-AE74-C39BBF2C7E2C}" type="datetimeFigureOut">
              <a:rPr lang="en-IN" smtClean="0"/>
              <a:t>05-06-2026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592733" y="4289334"/>
            <a:ext cx="1193868" cy="640080"/>
          </a:xfrm>
        </p:spPr>
        <p:txBody>
          <a:bodyPr/>
          <a:lstStyle>
            <a:lvl1pPr>
              <a:defRPr sz="2800" b="0"/>
            </a:lvl1pPr>
          </a:lstStyle>
          <a:p>
            <a:fld id="{3ADB20FF-4DF9-490E-9556-56ED18DAE1D2}" type="slidenum">
              <a:rPr lang="en-IN" smtClean="0"/>
              <a:t>‹#›</a:t>
            </a:fld>
            <a:endParaRPr lang="en-IN"/>
          </a:p>
        </p:txBody>
      </p:sp>
    </p:spTree>
    <p:extLst>
      <p:ext uri="{BB962C8B-B14F-4D97-AF65-F5344CB8AC3E}">
        <p14:creationId xmlns:p14="http://schemas.microsoft.com/office/powerpoint/2010/main" val="3741319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36E7EB1-C8B5-41DD-AE74-C39BBF2C7E2C}" type="datetimeFigureOut">
              <a:rPr lang="en-IN" smtClean="0"/>
              <a:t>05-06-2026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DB20FF-4DF9-490E-9556-56ED18DAE1D2}" type="slidenum">
              <a:rPr lang="en-IN" smtClean="0"/>
              <a:t>‹#›</a:t>
            </a:fld>
            <a:endParaRPr lang="en-IN"/>
          </a:p>
        </p:txBody>
      </p:sp>
    </p:spTree>
    <p:extLst>
      <p:ext uri="{BB962C8B-B14F-4D97-AF65-F5344CB8AC3E}">
        <p14:creationId xmlns:p14="http://schemas.microsoft.com/office/powerpoint/2010/main" val="2167084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7200" b="0"/>
            </a:lvl1pPr>
          </a:lstStyle>
          <a:p>
            <a:r>
              <a:rPr lang="en-US" smtClean="0"/>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8593667" y="6272784"/>
            <a:ext cx="2644309" cy="365125"/>
          </a:xfrm>
        </p:spPr>
        <p:txBody>
          <a:bodyPr/>
          <a:lstStyle/>
          <a:p>
            <a:fld id="{A36E7EB1-C8B5-41DD-AE74-C39BBF2C7E2C}" type="datetimeFigureOut">
              <a:rPr lang="en-IN" smtClean="0"/>
              <a:t>05-06-2026</a:t>
            </a:fld>
            <a:endParaRPr lang="en-IN"/>
          </a:p>
        </p:txBody>
      </p:sp>
      <p:sp>
        <p:nvSpPr>
          <p:cNvPr id="5" name="Footer Placeholder 4"/>
          <p:cNvSpPr>
            <a:spLocks noGrp="1"/>
          </p:cNvSpPr>
          <p:nvPr>
            <p:ph type="ftr" sz="quarter" idx="11"/>
          </p:nvPr>
        </p:nvSpPr>
        <p:spPr>
          <a:xfrm>
            <a:off x="2182708" y="6272784"/>
            <a:ext cx="6327648" cy="365125"/>
          </a:xfrm>
        </p:spPr>
        <p:txBody>
          <a:bodyPr/>
          <a:lstStyle/>
          <a:p>
            <a:endParaRPr lang="en-IN"/>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3ADB20FF-4DF9-490E-9556-56ED18DAE1D2}" type="slidenum">
              <a:rPr lang="en-IN" smtClean="0"/>
              <a:t>‹#›</a:t>
            </a:fld>
            <a:endParaRPr lang="en-IN"/>
          </a:p>
        </p:txBody>
      </p:sp>
    </p:spTree>
    <p:extLst>
      <p:ext uri="{BB962C8B-B14F-4D97-AF65-F5344CB8AC3E}">
        <p14:creationId xmlns:p14="http://schemas.microsoft.com/office/powerpoint/2010/main" val="2003889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36E7EB1-C8B5-41DD-AE74-C39BBF2C7E2C}" type="datetimeFigureOut">
              <a:rPr lang="en-IN" smtClean="0"/>
              <a:t>05-06-2026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ADB20FF-4DF9-490E-9556-56ED18DAE1D2}" type="slidenum">
              <a:rPr lang="en-IN" smtClean="0"/>
              <a:t>‹#›</a:t>
            </a:fld>
            <a:endParaRPr lang="en-IN"/>
          </a:p>
        </p:txBody>
      </p:sp>
    </p:spTree>
    <p:extLst>
      <p:ext uri="{BB962C8B-B14F-4D97-AF65-F5344CB8AC3E}">
        <p14:creationId xmlns:p14="http://schemas.microsoft.com/office/powerpoint/2010/main" val="3516256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36E7EB1-C8B5-41DD-AE74-C39BBF2C7E2C}" type="datetimeFigureOut">
              <a:rPr lang="en-IN" smtClean="0"/>
              <a:t>05-06-2026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ADB20FF-4DF9-490E-9556-56ED18DAE1D2}" type="slidenum">
              <a:rPr lang="en-IN" smtClean="0"/>
              <a:t>‹#›</a:t>
            </a:fld>
            <a:endParaRPr lang="en-IN"/>
          </a:p>
        </p:txBody>
      </p:sp>
    </p:spTree>
    <p:extLst>
      <p:ext uri="{BB962C8B-B14F-4D97-AF65-F5344CB8AC3E}">
        <p14:creationId xmlns:p14="http://schemas.microsoft.com/office/powerpoint/2010/main" val="4290830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36E7EB1-C8B5-41DD-AE74-C39BBF2C7E2C}" type="datetimeFigureOut">
              <a:rPr lang="en-IN" smtClean="0"/>
              <a:t>05-06-2026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ADB20FF-4DF9-490E-9556-56ED18DAE1D2}" type="slidenum">
              <a:rPr lang="en-IN" smtClean="0"/>
              <a:t>‹#›</a:t>
            </a:fld>
            <a:endParaRPr lang="en-IN"/>
          </a:p>
        </p:txBody>
      </p:sp>
    </p:spTree>
    <p:extLst>
      <p:ext uri="{BB962C8B-B14F-4D97-AF65-F5344CB8AC3E}">
        <p14:creationId xmlns:p14="http://schemas.microsoft.com/office/powerpoint/2010/main" val="394237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6E7EB1-C8B5-41DD-AE74-C39BBF2C7E2C}" type="datetimeFigureOut">
              <a:rPr lang="en-IN" smtClean="0"/>
              <a:t>05-06-2026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ADB20FF-4DF9-490E-9556-56ED18DAE1D2}" type="slidenum">
              <a:rPr lang="en-IN" smtClean="0"/>
              <a:t>‹#›</a:t>
            </a:fld>
            <a:endParaRPr lang="en-IN"/>
          </a:p>
        </p:txBody>
      </p:sp>
    </p:spTree>
    <p:extLst>
      <p:ext uri="{BB962C8B-B14F-4D97-AF65-F5344CB8AC3E}">
        <p14:creationId xmlns:p14="http://schemas.microsoft.com/office/powerpoint/2010/main" val="2663854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0"/>
            </a:lvl1pPr>
          </a:lstStyle>
          <a:p>
            <a:r>
              <a:rPr lang="en-US" smtClean="0"/>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36E7EB1-C8B5-41DD-AE74-C39BBF2C7E2C}" type="datetimeFigureOut">
              <a:rPr lang="en-IN" smtClean="0"/>
              <a:t>05-06-2026</a:t>
            </a:fld>
            <a:endParaRPr lang="en-IN"/>
          </a:p>
        </p:txBody>
      </p:sp>
      <p:sp>
        <p:nvSpPr>
          <p:cNvPr id="6" name="Footer Placeholder 5"/>
          <p:cNvSpPr>
            <a:spLocks noGrp="1"/>
          </p:cNvSpPr>
          <p:nvPr>
            <p:ph type="ftr" sz="quarter" idx="11"/>
          </p:nvPr>
        </p:nvSpPr>
        <p:spPr/>
        <p:txBody>
          <a:bodyPr/>
          <a:lstStyle/>
          <a:p>
            <a:endParaRPr lang="en-IN"/>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3ADB20FF-4DF9-490E-9556-56ED18DAE1D2}" type="slidenum">
              <a:rPr lang="en-IN" smtClean="0"/>
              <a:t>‹#›</a:t>
            </a:fld>
            <a:endParaRPr lang="en-IN"/>
          </a:p>
        </p:txBody>
      </p:sp>
    </p:spTree>
    <p:extLst>
      <p:ext uri="{BB962C8B-B14F-4D97-AF65-F5344CB8AC3E}">
        <p14:creationId xmlns:p14="http://schemas.microsoft.com/office/powerpoint/2010/main" val="21702448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36E7EB1-C8B5-41DD-AE74-C39BBF2C7E2C}" type="datetimeFigureOut">
              <a:rPr lang="en-IN" smtClean="0"/>
              <a:t>05-06-2026</a:t>
            </a:fld>
            <a:endParaRPr lang="en-IN"/>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3ADB20FF-4DF9-490E-9556-56ED18DAE1D2}" type="slidenum">
              <a:rPr lang="en-IN" smtClean="0"/>
              <a:t>‹#›</a:t>
            </a:fld>
            <a:endParaRPr lang="en-IN"/>
          </a:p>
        </p:txBody>
      </p:sp>
    </p:spTree>
    <p:extLst>
      <p:ext uri="{BB962C8B-B14F-4D97-AF65-F5344CB8AC3E}">
        <p14:creationId xmlns:p14="http://schemas.microsoft.com/office/powerpoint/2010/main" val="1642784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36E7EB1-C8B5-41DD-AE74-C39BBF2C7E2C}" type="datetimeFigureOut">
              <a:rPr lang="en-IN" smtClean="0"/>
              <a:t>05-06-2026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DB20FF-4DF9-490E-9556-56ED18DAE1D2}" type="slidenum">
              <a:rPr lang="en-IN" smtClean="0"/>
              <a:t>‹#›</a:t>
            </a:fld>
            <a:endParaRPr lang="en-IN"/>
          </a:p>
        </p:txBody>
      </p:sp>
    </p:spTree>
    <p:extLst>
      <p:ext uri="{BB962C8B-B14F-4D97-AF65-F5344CB8AC3E}">
        <p14:creationId xmlns:p14="http://schemas.microsoft.com/office/powerpoint/2010/main" val="4215372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36E7EB1-C8B5-41DD-AE74-C39BBF2C7E2C}" type="datetimeFigureOut">
              <a:rPr lang="en-IN" smtClean="0"/>
              <a:t>05-06-2026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DB20FF-4DF9-490E-9556-56ED18DAE1D2}" type="slidenum">
              <a:rPr lang="en-IN" smtClean="0"/>
              <a:t>‹#›</a:t>
            </a:fld>
            <a:endParaRPr lang="en-IN"/>
          </a:p>
        </p:txBody>
      </p:sp>
    </p:spTree>
    <p:extLst>
      <p:ext uri="{BB962C8B-B14F-4D97-AF65-F5344CB8AC3E}">
        <p14:creationId xmlns:p14="http://schemas.microsoft.com/office/powerpoint/2010/main" val="363241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A36E7EB1-C8B5-41DD-AE74-C39BBF2C7E2C}" type="datetimeFigureOut">
              <a:rPr lang="en-IN" smtClean="0"/>
              <a:t>05-06-2026</a:t>
            </a:fld>
            <a:endParaRPr lang="en-IN"/>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IN"/>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0">
                <a:solidFill>
                  <a:srgbClr val="FFFFFF"/>
                </a:solidFill>
                <a:latin typeface="+mj-lt"/>
              </a:defRPr>
            </a:lvl1pPr>
          </a:lstStyle>
          <a:p>
            <a:fld id="{3ADB20FF-4DF9-490E-9556-56ED18DAE1D2}" type="slidenum">
              <a:rPr lang="en-IN" smtClean="0"/>
              <a:t>‹#›</a:t>
            </a:fld>
            <a:endParaRPr lang="en-IN"/>
          </a:p>
        </p:txBody>
      </p:sp>
    </p:spTree>
    <p:extLst>
      <p:ext uri="{BB962C8B-B14F-4D97-AF65-F5344CB8AC3E}">
        <p14:creationId xmlns:p14="http://schemas.microsoft.com/office/powerpoint/2010/main" val="3495499616"/>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Lst>
  <p:txStyles>
    <p:titleStyle>
      <a:lvl1pPr algn="l" defTabSz="914400" rtl="0" eaLnBrk="1" latinLnBrk="0" hangingPunct="1">
        <a:lnSpc>
          <a:spcPct val="90000"/>
        </a:lnSpc>
        <a:spcBef>
          <a:spcPct val="0"/>
        </a:spcBef>
        <a:buNone/>
        <a:defRPr sz="4800" kern="1200" cap="none"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b="1" dirty="0" smtClean="0"/>
              <a:t>Exploratory Data Analysis of Large-Scale Industry Performance Dataset Using Univariate, Bivariate, and Multivariate Statistical Techniques</a:t>
            </a:r>
            <a:endParaRPr lang="en-IN" sz="3600" b="1" dirty="0"/>
          </a:p>
        </p:txBody>
      </p:sp>
      <p:sp>
        <p:nvSpPr>
          <p:cNvPr id="3" name="Subtitle 2"/>
          <p:cNvSpPr>
            <a:spLocks noGrp="1"/>
          </p:cNvSpPr>
          <p:nvPr>
            <p:ph type="subTitle" idx="1"/>
          </p:nvPr>
        </p:nvSpPr>
        <p:spPr/>
        <p:txBody>
          <a:bodyPr>
            <a:normAutofit/>
          </a:bodyPr>
          <a:lstStyle/>
          <a:p>
            <a:r>
              <a:rPr lang="en-US" b="1" dirty="0" err="1" smtClean="0"/>
              <a:t>NextHikes</a:t>
            </a:r>
            <a:r>
              <a:rPr lang="en-US" b="1" dirty="0" smtClean="0"/>
              <a:t> Solutions Internship Project</a:t>
            </a:r>
          </a:p>
          <a:p>
            <a:r>
              <a:rPr lang="en-US" b="1" dirty="0" smtClean="0"/>
              <a:t>By </a:t>
            </a:r>
            <a:r>
              <a:rPr lang="en-US" b="1" dirty="0" err="1" smtClean="0"/>
              <a:t>Bindu</a:t>
            </a:r>
            <a:r>
              <a:rPr lang="en-US" b="1" dirty="0" smtClean="0"/>
              <a:t> Kale A</a:t>
            </a:r>
            <a:endParaRPr lang="en-IN" b="1" dirty="0"/>
          </a:p>
        </p:txBody>
      </p:sp>
    </p:spTree>
    <p:extLst>
      <p:ext uri="{BB962C8B-B14F-4D97-AF65-F5344CB8AC3E}">
        <p14:creationId xmlns:p14="http://schemas.microsoft.com/office/powerpoint/2010/main" val="32376936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IN" dirty="0"/>
          </a:p>
        </p:txBody>
      </p:sp>
      <p:sp>
        <p:nvSpPr>
          <p:cNvPr id="3" name="Content Placeholder 2"/>
          <p:cNvSpPr>
            <a:spLocks noGrp="1"/>
          </p:cNvSpPr>
          <p:nvPr>
            <p:ph idx="1"/>
          </p:nvPr>
        </p:nvSpPr>
        <p:spPr/>
        <p:txBody>
          <a:bodyPr>
            <a:normAutofit lnSpcReduction="10000"/>
          </a:bodyPr>
          <a:lstStyle/>
          <a:p>
            <a:r>
              <a:rPr lang="en-US" dirty="0"/>
              <a:t>Exploratory Data Analysis (EDA) is a statistical process used to understand datasets through summary statistics, visualizations, and relationship analysis before predictive modeling or machine learning. </a:t>
            </a:r>
            <a:endParaRPr lang="en-US" dirty="0" smtClean="0"/>
          </a:p>
          <a:p>
            <a:r>
              <a:rPr lang="en-US" dirty="0" smtClean="0"/>
              <a:t>Python libraries used- </a:t>
            </a:r>
            <a:r>
              <a:rPr lang="en-IN" dirty="0" smtClean="0"/>
              <a:t>pandas, </a:t>
            </a:r>
            <a:r>
              <a:rPr lang="en-IN" dirty="0" err="1" smtClean="0"/>
              <a:t>numpy</a:t>
            </a:r>
            <a:r>
              <a:rPr lang="en-IN" dirty="0" smtClean="0"/>
              <a:t>, </a:t>
            </a:r>
            <a:r>
              <a:rPr lang="en-IN" dirty="0" err="1" smtClean="0"/>
              <a:t>matplotlib.pyplot</a:t>
            </a:r>
            <a:r>
              <a:rPr lang="en-IN" dirty="0" smtClean="0"/>
              <a:t>, </a:t>
            </a:r>
            <a:r>
              <a:rPr lang="en-IN" dirty="0" err="1" smtClean="0"/>
              <a:t>scipy.stats</a:t>
            </a:r>
            <a:r>
              <a:rPr lang="en-IN" dirty="0" smtClean="0"/>
              <a:t>, </a:t>
            </a:r>
            <a:r>
              <a:rPr lang="en-IN" dirty="0" err="1" smtClean="0"/>
              <a:t>seaborn</a:t>
            </a:r>
            <a:r>
              <a:rPr lang="en-IN" dirty="0" smtClean="0"/>
              <a:t>, </a:t>
            </a:r>
            <a:r>
              <a:rPr lang="en-IN" dirty="0" err="1" smtClean="0"/>
              <a:t>linregress</a:t>
            </a:r>
            <a:r>
              <a:rPr lang="en-IN" dirty="0" smtClean="0"/>
              <a:t>, </a:t>
            </a:r>
            <a:r>
              <a:rPr lang="en-US" dirty="0"/>
              <a:t>which provide powerful tools for data manipulation, statistical analysis, and visualization.</a:t>
            </a:r>
            <a:endParaRPr lang="en-IN" dirty="0" smtClean="0"/>
          </a:p>
          <a:p>
            <a:r>
              <a:rPr lang="en-US" dirty="0"/>
              <a:t>The primary objective of this analysis is to understand the characteristics of companies across different sectors and evaluate factors that influence business performance. </a:t>
            </a:r>
            <a:endParaRPr lang="en-US" dirty="0" smtClean="0"/>
          </a:p>
          <a:p>
            <a:r>
              <a:rPr lang="en-US" dirty="0" smtClean="0"/>
              <a:t>The </a:t>
            </a:r>
            <a:r>
              <a:rPr lang="en-US" dirty="0"/>
              <a:t>study involves data preprocessing, descriptive statistical analysis, distribution analysis, outlier detection, correlation analysis, and multivariate comparisons. Both numerical and categorical variables are examined to uncover meaningful business insights and industry trends.</a:t>
            </a:r>
            <a:endParaRPr lang="en-IN" dirty="0"/>
          </a:p>
          <a:p>
            <a:endParaRPr lang="en-IN" dirty="0"/>
          </a:p>
        </p:txBody>
      </p:sp>
    </p:spTree>
    <p:extLst>
      <p:ext uri="{BB962C8B-B14F-4D97-AF65-F5344CB8AC3E}">
        <p14:creationId xmlns:p14="http://schemas.microsoft.com/office/powerpoint/2010/main" val="4174192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Preprocessing</a:t>
            </a:r>
            <a:endParaRPr lang="en-IN" dirty="0"/>
          </a:p>
        </p:txBody>
      </p:sp>
      <p:sp>
        <p:nvSpPr>
          <p:cNvPr id="3" name="Content Placeholder 2"/>
          <p:cNvSpPr>
            <a:spLocks noGrp="1"/>
          </p:cNvSpPr>
          <p:nvPr>
            <p:ph idx="1"/>
          </p:nvPr>
        </p:nvSpPr>
        <p:spPr/>
        <p:txBody>
          <a:bodyPr/>
          <a:lstStyle/>
          <a:p>
            <a:r>
              <a:rPr lang="en-US" dirty="0" smtClean="0"/>
              <a:t>I have cleaned the data, followed the steps for duplicates, missing values.</a:t>
            </a:r>
          </a:p>
          <a:p>
            <a:r>
              <a:rPr lang="en-US" dirty="0" smtClean="0"/>
              <a:t>There are no missing values or duplicates found.</a:t>
            </a:r>
          </a:p>
          <a:p>
            <a:r>
              <a:rPr lang="en-US" dirty="0" smtClean="0"/>
              <a:t>I have changed the created date to </a:t>
            </a:r>
            <a:r>
              <a:rPr lang="en-US" dirty="0" err="1" smtClean="0"/>
              <a:t>datetime</a:t>
            </a:r>
            <a:r>
              <a:rPr lang="en-US" dirty="0" smtClean="0"/>
              <a:t> format for easy analysis.</a:t>
            </a:r>
          </a:p>
          <a:p>
            <a:r>
              <a:rPr lang="en-US" dirty="0" smtClean="0"/>
              <a:t>I have checked for data types, whether its integer, float, string format.</a:t>
            </a:r>
          </a:p>
          <a:p>
            <a:r>
              <a:rPr lang="en-US" dirty="0" smtClean="0"/>
              <a:t>I have done standardization of column names.</a:t>
            </a:r>
          </a:p>
          <a:p>
            <a:endParaRPr lang="en-IN" dirty="0"/>
          </a:p>
          <a:p>
            <a:endParaRPr lang="en-IN" dirty="0"/>
          </a:p>
        </p:txBody>
      </p:sp>
    </p:spTree>
    <p:extLst>
      <p:ext uri="{BB962C8B-B14F-4D97-AF65-F5344CB8AC3E}">
        <p14:creationId xmlns:p14="http://schemas.microsoft.com/office/powerpoint/2010/main" val="21188145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effectLst/>
              </a:rPr>
              <a:t>Dataset Overview</a:t>
            </a:r>
            <a:br>
              <a:rPr lang="en-IN" dirty="0" smtClean="0">
                <a:effectLst/>
              </a:rPr>
            </a:br>
            <a:endParaRPr lang="en-IN" dirty="0"/>
          </a:p>
        </p:txBody>
      </p:sp>
      <p:sp>
        <p:nvSpPr>
          <p:cNvPr id="3" name="Content Placeholder 2"/>
          <p:cNvSpPr>
            <a:spLocks noGrp="1"/>
          </p:cNvSpPr>
          <p:nvPr>
            <p:ph idx="1"/>
          </p:nvPr>
        </p:nvSpPr>
        <p:spPr/>
        <p:txBody>
          <a:bodyPr/>
          <a:lstStyle/>
          <a:p>
            <a:r>
              <a:rPr lang="en-US" dirty="0" smtClean="0"/>
              <a:t>I have </a:t>
            </a:r>
            <a:r>
              <a:rPr lang="en-US" dirty="0"/>
              <a:t>a</a:t>
            </a:r>
            <a:r>
              <a:rPr lang="en-US" dirty="0" smtClean="0">
                <a:effectLst/>
              </a:rPr>
              <a:t>nalyzed a comprehensive dataset of mid-to-large companies across 5 industries, 4 countries, and 3 regions.</a:t>
            </a:r>
          </a:p>
          <a:p>
            <a:r>
              <a:rPr lang="en-US" dirty="0" smtClean="0">
                <a:effectLst/>
              </a:rPr>
              <a:t>Total Companies: 15,000 (balanced design) </a:t>
            </a:r>
          </a:p>
          <a:p>
            <a:r>
              <a:rPr lang="en-US" dirty="0" smtClean="0">
                <a:effectLst/>
              </a:rPr>
              <a:t>Industries: Finance, Technology, Retail, Manufacturing, Healthcare (20% each) </a:t>
            </a:r>
          </a:p>
          <a:p>
            <a:r>
              <a:rPr lang="en-US" dirty="0" smtClean="0">
                <a:effectLst/>
              </a:rPr>
              <a:t>Countries: USA, Germany, India, Canada (25% each)</a:t>
            </a:r>
          </a:p>
          <a:p>
            <a:r>
              <a:rPr lang="en-US" dirty="0" smtClean="0">
                <a:effectLst/>
              </a:rPr>
              <a:t>Regions: North America (50%), Asia (25%), Europe (25%) </a:t>
            </a:r>
          </a:p>
          <a:p>
            <a:pPr marL="0" indent="0">
              <a:buNone/>
            </a:pPr>
            <a:endParaRPr lang="en-US" dirty="0" smtClean="0">
              <a:effectLst/>
            </a:endParaRPr>
          </a:p>
          <a:p>
            <a:endParaRPr lang="en-US" dirty="0" smtClean="0">
              <a:effectLst/>
            </a:endParaRPr>
          </a:p>
          <a:p>
            <a:endParaRPr lang="en-US" dirty="0" smtClean="0">
              <a:effectLst/>
            </a:endParaRPr>
          </a:p>
          <a:p>
            <a:endParaRPr lang="en-US" dirty="0" smtClean="0">
              <a:effectLst/>
            </a:endParaRPr>
          </a:p>
          <a:p>
            <a:endParaRPr lang="en-US" dirty="0" smtClean="0">
              <a:effectLst/>
            </a:endParaRPr>
          </a:p>
          <a:p>
            <a:endParaRPr lang="en-IN" dirty="0"/>
          </a:p>
        </p:txBody>
      </p:sp>
    </p:spTree>
    <p:extLst>
      <p:ext uri="{BB962C8B-B14F-4D97-AF65-F5344CB8AC3E}">
        <p14:creationId xmlns:p14="http://schemas.microsoft.com/office/powerpoint/2010/main" val="16038717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Univariate Analysis </a:t>
            </a:r>
            <a:endParaRPr lang="en-IN" dirty="0"/>
          </a:p>
        </p:txBody>
      </p:sp>
      <p:sp>
        <p:nvSpPr>
          <p:cNvPr id="3" name="Content Placeholder 2"/>
          <p:cNvSpPr>
            <a:spLocks noGrp="1"/>
          </p:cNvSpPr>
          <p:nvPr>
            <p:ph idx="1"/>
          </p:nvPr>
        </p:nvSpPr>
        <p:spPr/>
        <p:txBody>
          <a:bodyPr/>
          <a:lstStyle/>
          <a:p>
            <a:r>
              <a:rPr lang="en-US" b="1" dirty="0" smtClean="0"/>
              <a:t>Companies average 2,600 employees, $550M annual revenue, and 25% profit margin</a:t>
            </a:r>
          </a:p>
          <a:p>
            <a:r>
              <a:rPr lang="en-US" b="1" dirty="0" smtClean="0"/>
              <a:t>Customer base averages ~50,000 per company</a:t>
            </a:r>
          </a:p>
          <a:p>
            <a:r>
              <a:rPr lang="en-US" b="1" dirty="0" smtClean="0"/>
              <a:t>All numerical variables show near-zero skewness and uniform distributions</a:t>
            </a:r>
          </a:p>
          <a:p>
            <a:r>
              <a:rPr lang="en-US" b="1" dirty="0" smtClean="0"/>
              <a:t>Zero outliers detected across all variables (confirmed by IQR and boxplots)</a:t>
            </a:r>
          </a:p>
          <a:p>
            <a:r>
              <a:rPr lang="en-US" b="1" dirty="0" smtClean="0"/>
              <a:t>Founded years spread evenly from 1990–2020</a:t>
            </a:r>
            <a:endParaRPr lang="en-US" b="1" dirty="0"/>
          </a:p>
        </p:txBody>
      </p:sp>
    </p:spTree>
    <p:extLst>
      <p:ext uri="{BB962C8B-B14F-4D97-AF65-F5344CB8AC3E}">
        <p14:creationId xmlns:p14="http://schemas.microsoft.com/office/powerpoint/2010/main" val="34017579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485900" y="395653"/>
            <a:ext cx="8950569" cy="6154615"/>
          </a:xfrm>
          <a:prstGeom prst="rect">
            <a:avLst/>
          </a:prstGeom>
        </p:spPr>
      </p:pic>
    </p:spTree>
    <p:extLst>
      <p:ext uri="{BB962C8B-B14F-4D97-AF65-F5344CB8AC3E}">
        <p14:creationId xmlns:p14="http://schemas.microsoft.com/office/powerpoint/2010/main" val="397077161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96868" y="125046"/>
            <a:ext cx="5366513" cy="3479800"/>
          </a:xfrm>
          <a:prstGeom prst="rect">
            <a:avLst/>
          </a:prstGeom>
        </p:spPr>
      </p:pic>
      <p:pic>
        <p:nvPicPr>
          <p:cNvPr id="5" name="Picture 4"/>
          <p:cNvPicPr>
            <a:picLocks noChangeAspect="1"/>
          </p:cNvPicPr>
          <p:nvPr/>
        </p:nvPicPr>
        <p:blipFill>
          <a:blip r:embed="rId3"/>
          <a:stretch>
            <a:fillRect/>
          </a:stretch>
        </p:blipFill>
        <p:spPr>
          <a:xfrm>
            <a:off x="5776720" y="24423"/>
            <a:ext cx="6080805" cy="3681046"/>
          </a:xfrm>
          <a:prstGeom prst="rect">
            <a:avLst/>
          </a:prstGeom>
        </p:spPr>
      </p:pic>
      <p:pic>
        <p:nvPicPr>
          <p:cNvPr id="6" name="Picture 5"/>
          <p:cNvPicPr>
            <a:picLocks noChangeAspect="1"/>
          </p:cNvPicPr>
          <p:nvPr/>
        </p:nvPicPr>
        <p:blipFill>
          <a:blip r:embed="rId4"/>
          <a:stretch>
            <a:fillRect/>
          </a:stretch>
        </p:blipFill>
        <p:spPr>
          <a:xfrm>
            <a:off x="3444355" y="3557708"/>
            <a:ext cx="5089678" cy="3300292"/>
          </a:xfrm>
          <a:prstGeom prst="rect">
            <a:avLst/>
          </a:prstGeom>
        </p:spPr>
      </p:pic>
    </p:spTree>
    <p:extLst>
      <p:ext uri="{BB962C8B-B14F-4D97-AF65-F5344CB8AC3E}">
        <p14:creationId xmlns:p14="http://schemas.microsoft.com/office/powerpoint/2010/main" val="19359017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Bivariate Analysis </a:t>
            </a:r>
            <a:endParaRPr lang="en-IN" dirty="0"/>
          </a:p>
        </p:txBody>
      </p:sp>
      <p:sp>
        <p:nvSpPr>
          <p:cNvPr id="3" name="Content Placeholder 2"/>
          <p:cNvSpPr>
            <a:spLocks noGrp="1"/>
          </p:cNvSpPr>
          <p:nvPr>
            <p:ph idx="1"/>
          </p:nvPr>
        </p:nvSpPr>
        <p:spPr/>
        <p:txBody>
          <a:bodyPr/>
          <a:lstStyle/>
          <a:p>
            <a:r>
              <a:rPr lang="en-US" dirty="0" smtClean="0"/>
              <a:t>Extremely weak correlations between all variables (all values ≈ 0)</a:t>
            </a:r>
          </a:p>
          <a:p>
            <a:r>
              <a:rPr lang="en-US" dirty="0" smtClean="0"/>
              <a:t>Company size (employees) has almost no impact on revenue, profit, or customer count</a:t>
            </a:r>
          </a:p>
          <a:p>
            <a:r>
              <a:rPr lang="en-US" dirty="0" smtClean="0"/>
              <a:t>No meaningful relationship between market rating and profitability</a:t>
            </a:r>
          </a:p>
          <a:p>
            <a:r>
              <a:rPr lang="en-US" dirty="0" smtClean="0"/>
              <a:t>Age of company (founded year) shows negligible influence on performance</a:t>
            </a:r>
            <a:endParaRPr lang="en-US" dirty="0"/>
          </a:p>
        </p:txBody>
      </p:sp>
    </p:spTree>
    <p:extLst>
      <p:ext uri="{BB962C8B-B14F-4D97-AF65-F5344CB8AC3E}">
        <p14:creationId xmlns:p14="http://schemas.microsoft.com/office/powerpoint/2010/main" val="5992046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0" y="81085"/>
            <a:ext cx="5205046" cy="4643062"/>
          </a:xfrm>
          <a:prstGeom prst="rect">
            <a:avLst/>
          </a:prstGeom>
        </p:spPr>
      </p:pic>
      <p:pic>
        <p:nvPicPr>
          <p:cNvPr id="5" name="Picture 4"/>
          <p:cNvPicPr>
            <a:picLocks noChangeAspect="1"/>
          </p:cNvPicPr>
          <p:nvPr/>
        </p:nvPicPr>
        <p:blipFill>
          <a:blip r:embed="rId3"/>
          <a:stretch>
            <a:fillRect/>
          </a:stretch>
        </p:blipFill>
        <p:spPr>
          <a:xfrm>
            <a:off x="5380892" y="81085"/>
            <a:ext cx="6603024" cy="6696808"/>
          </a:xfrm>
          <a:prstGeom prst="rect">
            <a:avLst/>
          </a:prstGeom>
        </p:spPr>
      </p:pic>
    </p:spTree>
    <p:extLst>
      <p:ext uri="{BB962C8B-B14F-4D97-AF65-F5344CB8AC3E}">
        <p14:creationId xmlns:p14="http://schemas.microsoft.com/office/powerpoint/2010/main" val="204025208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Multivariate &amp; Segment Analysis</a:t>
            </a:r>
            <a:br>
              <a:rPr lang="en-US" b="1" dirty="0" smtClean="0"/>
            </a:br>
            <a:endParaRPr lang="en-IN" dirty="0"/>
          </a:p>
        </p:txBody>
      </p:sp>
      <p:sp>
        <p:nvSpPr>
          <p:cNvPr id="3" name="Content Placeholder 2"/>
          <p:cNvSpPr>
            <a:spLocks noGrp="1"/>
          </p:cNvSpPr>
          <p:nvPr>
            <p:ph idx="1"/>
          </p:nvPr>
        </p:nvSpPr>
        <p:spPr/>
        <p:txBody>
          <a:bodyPr/>
          <a:lstStyle/>
          <a:p>
            <a:r>
              <a:rPr lang="en-US" dirty="0" smtClean="0"/>
              <a:t>Industries: Nearly identical performance across all sectors (Finance slightly higher profit margin, but gap is minimal)</a:t>
            </a:r>
          </a:p>
          <a:p>
            <a:r>
              <a:rPr lang="en-US" dirty="0" smtClean="0"/>
              <a:t>Countries &amp; Regions: Very consistent results — no country or region significantly outperforms others</a:t>
            </a:r>
          </a:p>
          <a:p>
            <a:r>
              <a:rPr lang="en-US" dirty="0" smtClean="0"/>
              <a:t>Boxplots and grouped averages confirm overlapping distributions across all segments</a:t>
            </a:r>
          </a:p>
          <a:p>
            <a:r>
              <a:rPr lang="en-US" dirty="0" smtClean="0"/>
              <a:t>No strong interactions found between any combination of variables</a:t>
            </a:r>
            <a:endParaRPr lang="en-US" dirty="0"/>
          </a:p>
        </p:txBody>
      </p:sp>
    </p:spTree>
    <p:extLst>
      <p:ext uri="{BB962C8B-B14F-4D97-AF65-F5344CB8AC3E}">
        <p14:creationId xmlns:p14="http://schemas.microsoft.com/office/powerpoint/2010/main" val="3528972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978369" y="485529"/>
            <a:ext cx="9936316" cy="5458070"/>
          </a:xfrm>
          <a:prstGeom prst="rect">
            <a:avLst/>
          </a:prstGeom>
        </p:spPr>
      </p:pic>
    </p:spTree>
    <p:extLst>
      <p:ext uri="{BB962C8B-B14F-4D97-AF65-F5344CB8AC3E}">
        <p14:creationId xmlns:p14="http://schemas.microsoft.com/office/powerpoint/2010/main" val="309411640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69340" y="325315"/>
            <a:ext cx="11083838" cy="6163408"/>
          </a:xfrm>
          <a:prstGeom prst="rect">
            <a:avLst/>
          </a:prstGeom>
        </p:spPr>
      </p:pic>
    </p:spTree>
    <p:extLst>
      <p:ext uri="{BB962C8B-B14F-4D97-AF65-F5344CB8AC3E}">
        <p14:creationId xmlns:p14="http://schemas.microsoft.com/office/powerpoint/2010/main" val="15657456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Overall Conclusion</a:t>
            </a:r>
            <a:br>
              <a:rPr lang="en-US" b="1" dirty="0" smtClean="0"/>
            </a:br>
            <a:endParaRPr lang="en-IN" dirty="0"/>
          </a:p>
        </p:txBody>
      </p:sp>
      <p:sp>
        <p:nvSpPr>
          <p:cNvPr id="3" name="Content Placeholder 2"/>
          <p:cNvSpPr>
            <a:spLocks noGrp="1"/>
          </p:cNvSpPr>
          <p:nvPr>
            <p:ph idx="1"/>
          </p:nvPr>
        </p:nvSpPr>
        <p:spPr/>
        <p:txBody>
          <a:bodyPr/>
          <a:lstStyle/>
          <a:p>
            <a:r>
              <a:rPr lang="en-US" dirty="0" smtClean="0"/>
              <a:t>The industry represents a mature, fair, and highly competitive ecosystem</a:t>
            </a:r>
          </a:p>
          <a:p>
            <a:r>
              <a:rPr lang="en-US" dirty="0" smtClean="0"/>
              <a:t>Success is evenly distributed — not driven by company size, industry, geography, or age</a:t>
            </a:r>
          </a:p>
          <a:p>
            <a:r>
              <a:rPr lang="en-US" dirty="0" smtClean="0"/>
              <a:t>Exceptionally clean dataset with high stability and low variability</a:t>
            </a:r>
          </a:p>
          <a:p>
            <a:r>
              <a:rPr lang="en-US" dirty="0" smtClean="0"/>
              <a:t>Traditional success factors appear to have minimal influence</a:t>
            </a:r>
            <a:endParaRPr lang="en-US" dirty="0"/>
          </a:p>
        </p:txBody>
      </p:sp>
    </p:spTree>
    <p:extLst>
      <p:ext uri="{BB962C8B-B14F-4D97-AF65-F5344CB8AC3E}">
        <p14:creationId xmlns:p14="http://schemas.microsoft.com/office/powerpoint/2010/main" val="174003973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Business Implications &amp; Recommendations</a:t>
            </a:r>
            <a:br>
              <a:rPr lang="en-US" b="1" dirty="0" smtClean="0"/>
            </a:br>
            <a:endParaRPr lang="en-IN" dirty="0"/>
          </a:p>
        </p:txBody>
      </p:sp>
      <p:sp>
        <p:nvSpPr>
          <p:cNvPr id="3" name="Content Placeholder 2"/>
          <p:cNvSpPr>
            <a:spLocks noGrp="1"/>
          </p:cNvSpPr>
          <p:nvPr>
            <p:ph idx="1"/>
          </p:nvPr>
        </p:nvSpPr>
        <p:spPr/>
        <p:txBody>
          <a:bodyPr/>
          <a:lstStyle/>
          <a:p>
            <a:r>
              <a:rPr lang="en-US" b="1" dirty="0" smtClean="0"/>
              <a:t>Valuable for</a:t>
            </a:r>
            <a:r>
              <a:rPr lang="en-US" dirty="0" smtClean="0"/>
              <a:t>:</a:t>
            </a:r>
          </a:p>
          <a:p>
            <a:pPr lvl="1"/>
            <a:r>
              <a:rPr lang="en-US" dirty="0" smtClean="0"/>
              <a:t>Industry benchmarking</a:t>
            </a:r>
          </a:p>
          <a:p>
            <a:pPr lvl="1"/>
            <a:r>
              <a:rPr lang="en-US" dirty="0" smtClean="0"/>
              <a:t>Market trend analysis</a:t>
            </a:r>
          </a:p>
          <a:p>
            <a:pPr lvl="1"/>
            <a:r>
              <a:rPr lang="en-US" dirty="0" smtClean="0"/>
              <a:t>Business intelligence</a:t>
            </a:r>
          </a:p>
          <a:p>
            <a:pPr lvl="1"/>
            <a:r>
              <a:rPr lang="en-US" dirty="0" smtClean="0"/>
              <a:t>Revenue forecasting</a:t>
            </a:r>
          </a:p>
          <a:p>
            <a:pPr lvl="1"/>
            <a:r>
              <a:rPr lang="en-US" dirty="0" smtClean="0"/>
              <a:t>Strategic decision-making</a:t>
            </a:r>
          </a:p>
          <a:p>
            <a:r>
              <a:rPr lang="en-US" dirty="0" smtClean="0"/>
              <a:t>Opportunity to focus on operational efficiency, innovation, and customer experience rather than scale or sector advantages</a:t>
            </a:r>
            <a:endParaRPr lang="en-US" dirty="0"/>
          </a:p>
        </p:txBody>
      </p:sp>
    </p:spTree>
    <p:extLst>
      <p:ext uri="{BB962C8B-B14F-4D97-AF65-F5344CB8AC3E}">
        <p14:creationId xmlns:p14="http://schemas.microsoft.com/office/powerpoint/2010/main" val="24940016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15955"/>
            <a:ext cx="10515600" cy="1325563"/>
          </a:xfrm>
        </p:spPr>
        <p:txBody>
          <a:bodyPr/>
          <a:lstStyle/>
          <a:p>
            <a:pPr algn="ctr"/>
            <a:r>
              <a:rPr lang="en-US" dirty="0" smtClean="0"/>
              <a:t>THANK YOU</a:t>
            </a:r>
            <a:endParaRPr lang="en-IN" dirty="0"/>
          </a:p>
        </p:txBody>
      </p:sp>
    </p:spTree>
    <p:extLst>
      <p:ext uri="{BB962C8B-B14F-4D97-AF65-F5344CB8AC3E}">
        <p14:creationId xmlns:p14="http://schemas.microsoft.com/office/powerpoint/2010/main" val="121083164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Wood Type">
      <a:majorFont>
        <a:latin typeface="Arial Black" panose="020B0A04020102020204"/>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panose="020B0604020202020204"/>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BE1B6DD8-9976-4550-A6F4-B2DD4EA939DA}"/>
    </a:ext>
  </a:extLst>
</a:theme>
</file>

<file path=docProps/app.xml><?xml version="1.0" encoding="utf-8"?>
<Properties xmlns="http://schemas.openxmlformats.org/officeDocument/2006/extended-properties" xmlns:vt="http://schemas.openxmlformats.org/officeDocument/2006/docPropsVTypes">
  <Template>TM03090434[[fn=Wood Type]]</Template>
  <TotalTime>39</TotalTime>
  <Words>532</Words>
  <Application>Microsoft Office PowerPoint</Application>
  <PresentationFormat>Widescreen</PresentationFormat>
  <Paragraphs>54</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Arial Black</vt:lpstr>
      <vt:lpstr>Wingdings</vt:lpstr>
      <vt:lpstr>Wood Type</vt:lpstr>
      <vt:lpstr>Exploratory Data Analysis of Large-Scale Industry Performance Dataset Using Univariate, Bivariate, and Multivariate Statistical Techniques</vt:lpstr>
      <vt:lpstr>Introduction</vt:lpstr>
      <vt:lpstr>Preprocessing</vt:lpstr>
      <vt:lpstr>Dataset Overview </vt:lpstr>
      <vt:lpstr>Univariate Analysis </vt:lpstr>
      <vt:lpstr>PowerPoint Presentation</vt:lpstr>
      <vt:lpstr>PowerPoint Presentation</vt:lpstr>
      <vt:lpstr>Bivariate Analysis </vt:lpstr>
      <vt:lpstr>PowerPoint Presentation</vt:lpstr>
      <vt:lpstr>Multivariate &amp; Segment Analysis </vt:lpstr>
      <vt:lpstr>PowerPoint Presentation</vt:lpstr>
      <vt:lpstr>PowerPoint Presentation</vt:lpstr>
      <vt:lpstr>Overall Conclusion </vt:lpstr>
      <vt:lpstr>Business Implications &amp; Recommendations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Exploratory Data Analysis of Large-Scale Industry Performance Dataset Using Univariate, Bivariate, and Multivariate Statistical Techniques</dc:title>
  <dc:creator>priyanka kale</dc:creator>
  <cp:lastModifiedBy>priyanka kale</cp:lastModifiedBy>
  <cp:revision>7</cp:revision>
  <dcterms:created xsi:type="dcterms:W3CDTF">2026-06-05T15:53:51Z</dcterms:created>
  <dcterms:modified xsi:type="dcterms:W3CDTF">2026-06-05T16:33:09Z</dcterms:modified>
</cp:coreProperties>
</file>