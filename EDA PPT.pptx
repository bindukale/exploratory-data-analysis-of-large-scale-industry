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sldIdLst>
    <p:sldId id="256" r:id="rId2"/>
    <p:sldId id="257" r:id="rId3"/>
    <p:sldId id="259" r:id="rId4"/>
    <p:sldId id="258" r:id="rId5"/>
    <p:sldId id="260" r:id="rId6"/>
    <p:sldId id="271" r:id="rId7"/>
    <p:sldId id="267" r:id="rId8"/>
    <p:sldId id="266" r:id="rId9"/>
    <p:sldId id="261" r:id="rId10"/>
    <p:sldId id="268" r:id="rId11"/>
    <p:sldId id="272" r:id="rId12"/>
    <p:sldId id="262" r:id="rId13"/>
    <p:sldId id="273" r:id="rId14"/>
    <p:sldId id="270" r:id="rId15"/>
    <p:sldId id="274" r:id="rId16"/>
    <p:sldId id="263" r:id="rId17"/>
    <p:sldId id="264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none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 b="0"/>
            </a:lvl1pPr>
          </a:lstStyle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1319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7084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72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N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388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6256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0830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23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3854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0244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2784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5372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241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A36E7EB1-C8B5-41DD-AE74-C39BBF2C7E2C}" type="datetimeFigureOut">
              <a:rPr lang="en-IN" smtClean="0"/>
              <a:t>06-06-2026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>
                <a:solidFill>
                  <a:srgbClr val="FFFFFF"/>
                </a:solidFill>
                <a:latin typeface="+mj-lt"/>
              </a:defRPr>
            </a:lvl1pPr>
          </a:lstStyle>
          <a:p>
            <a:fld id="{3ADB20FF-4DF9-490E-9556-56ED18DAE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5499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none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16586"/>
            <a:ext cx="9966960" cy="3035808"/>
          </a:xfrm>
        </p:spPr>
        <p:txBody>
          <a:bodyPr>
            <a:normAutofit/>
          </a:bodyPr>
          <a:lstStyle/>
          <a:p>
            <a:r>
              <a:rPr lang="en-US" sz="3600" b="1" dirty="0" smtClean="0"/>
              <a:t>Exploratory Data Analysis of Large-Scale Industry Performance Dataset Using Univariate, Bivariate, and Multivariate Statistical Techniques</a:t>
            </a:r>
            <a:endParaRPr lang="en-IN" sz="3600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1560" y="4516462"/>
            <a:ext cx="7891272" cy="1069848"/>
          </a:xfrm>
        </p:spPr>
        <p:txBody>
          <a:bodyPr>
            <a:normAutofit/>
          </a:bodyPr>
          <a:lstStyle/>
          <a:p>
            <a:r>
              <a:rPr lang="en-US" b="1" dirty="0" err="1" smtClean="0"/>
              <a:t>NextHikes</a:t>
            </a:r>
            <a:r>
              <a:rPr lang="en-US" b="1" dirty="0" smtClean="0"/>
              <a:t> Solutions Internship Project</a:t>
            </a:r>
          </a:p>
          <a:p>
            <a:r>
              <a:rPr lang="en-US" b="1" dirty="0" smtClean="0"/>
              <a:t>By </a:t>
            </a:r>
            <a:r>
              <a:rPr lang="en-US" b="1" dirty="0" err="1" smtClean="0"/>
              <a:t>Bindu</a:t>
            </a:r>
            <a:r>
              <a:rPr lang="en-US" b="1" dirty="0" smtClean="0"/>
              <a:t> Kale A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23769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Exploratory Data Analysis (</a:t>
            </a:r>
            <a:r>
              <a:rPr lang="en-US" dirty="0" smtClean="0"/>
              <a:t>EDA) </a:t>
            </a:r>
            <a:r>
              <a:rPr lang="en-US" dirty="0"/>
              <a:t>is an analysis approach that identifies general patterns in the data</a:t>
            </a:r>
            <a:r>
              <a:rPr lang="en-US" dirty="0" smtClean="0"/>
              <a:t>. It </a:t>
            </a:r>
            <a:r>
              <a:rPr lang="en-US" dirty="0"/>
              <a:t>is a statistical process used to understand datasets through summary statistics, visualizations, and relationship analysis before predictive modeling or machine learning. </a:t>
            </a:r>
            <a:endParaRPr lang="en-US" dirty="0" smtClean="0"/>
          </a:p>
          <a:p>
            <a:r>
              <a:rPr lang="en-US" dirty="0" smtClean="0"/>
              <a:t>Python libraries I have used here is </a:t>
            </a:r>
            <a:r>
              <a:rPr lang="en-IN" dirty="0" smtClean="0"/>
              <a:t>pandas, </a:t>
            </a:r>
            <a:r>
              <a:rPr lang="en-IN" dirty="0" err="1" smtClean="0"/>
              <a:t>numpy</a:t>
            </a:r>
            <a:r>
              <a:rPr lang="en-IN" dirty="0" smtClean="0"/>
              <a:t>, </a:t>
            </a:r>
            <a:r>
              <a:rPr lang="en-IN" dirty="0" err="1" smtClean="0"/>
              <a:t>matplotlib</a:t>
            </a:r>
            <a:r>
              <a:rPr lang="en-IN" dirty="0" smtClean="0"/>
              <a:t>, </a:t>
            </a:r>
            <a:r>
              <a:rPr lang="en-IN" dirty="0" err="1" smtClean="0"/>
              <a:t>scipy</a:t>
            </a:r>
            <a:r>
              <a:rPr lang="en-IN" dirty="0" smtClean="0"/>
              <a:t>, </a:t>
            </a:r>
            <a:r>
              <a:rPr lang="en-IN" dirty="0" err="1" smtClean="0"/>
              <a:t>seaborn</a:t>
            </a:r>
            <a:r>
              <a:rPr lang="en-IN" dirty="0"/>
              <a:t> </a:t>
            </a:r>
            <a:r>
              <a:rPr lang="en-US" dirty="0" smtClean="0"/>
              <a:t>which </a:t>
            </a:r>
            <a:r>
              <a:rPr lang="en-US" dirty="0"/>
              <a:t>provide powerful tools for data manipulation, statistical analysis, and visualization.</a:t>
            </a:r>
            <a:endParaRPr lang="en-IN" dirty="0" smtClean="0"/>
          </a:p>
          <a:p>
            <a:r>
              <a:rPr lang="en-US" dirty="0"/>
              <a:t>The primary objective of this analysis is to understand the characteristics of companies across different sectors and evaluate factors that influence business performance. </a:t>
            </a:r>
            <a:endParaRPr lang="en-US" dirty="0" smtClean="0"/>
          </a:p>
          <a:p>
            <a:r>
              <a:rPr lang="en-US" dirty="0"/>
              <a:t>Companies operate in highly competitive environments, </a:t>
            </a:r>
            <a:r>
              <a:rPr lang="en-US" dirty="0" smtClean="0"/>
              <a:t>understanding </a:t>
            </a:r>
            <a:r>
              <a:rPr lang="en-US" dirty="0"/>
              <a:t>the drivers of revenue, profitability, and customer growth is important for business planning. This analysis </a:t>
            </a:r>
            <a:r>
              <a:rPr lang="en-US" dirty="0" smtClean="0"/>
              <a:t>has helped </a:t>
            </a:r>
            <a:r>
              <a:rPr lang="en-US" dirty="0"/>
              <a:t>to uncover how company size, customer base, and market perception impact performance.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419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 smtClean="0">
                <a:effectLst/>
              </a:rPr>
              <a:t>Dataset Overview</a:t>
            </a:r>
            <a:br>
              <a:rPr lang="en-IN" dirty="0" smtClean="0">
                <a:effectLst/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1866430"/>
            <a:ext cx="10058400" cy="43047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Before identifying trends, it was important to understand what information was available and whether the dataset was reliable</a:t>
            </a:r>
            <a:r>
              <a:rPr lang="en-US" dirty="0" smtClean="0"/>
              <a:t>.</a:t>
            </a:r>
          </a:p>
          <a:p>
            <a:r>
              <a:rPr lang="en-US" dirty="0"/>
              <a:t>The dataset contains 15,000 records and 12 variables, providing a large sample for analysis</a:t>
            </a:r>
            <a:endParaRPr lang="en-US" dirty="0" smtClean="0"/>
          </a:p>
          <a:p>
            <a:r>
              <a:rPr lang="en-US" dirty="0" smtClean="0"/>
              <a:t>I have </a:t>
            </a:r>
            <a:r>
              <a:rPr lang="en-US" dirty="0"/>
              <a:t>a</a:t>
            </a:r>
            <a:r>
              <a:rPr lang="en-US" dirty="0" smtClean="0">
                <a:effectLst/>
              </a:rPr>
              <a:t>nalyzed a comprehensive dataset of mid-to-large companies across 5 industries, 4 countries, and 3 regions.</a:t>
            </a:r>
          </a:p>
          <a:p>
            <a:r>
              <a:rPr lang="en-US" dirty="0" smtClean="0">
                <a:effectLst/>
              </a:rPr>
              <a:t>Industries</a:t>
            </a:r>
            <a:r>
              <a:rPr lang="en-US" sz="1800" dirty="0" smtClean="0">
                <a:effectLst/>
              </a:rPr>
              <a:t>: Finance, Technology, Retail, Manufacturing, Healthcare.</a:t>
            </a:r>
          </a:p>
          <a:p>
            <a:r>
              <a:rPr lang="en-US" sz="1800" dirty="0" smtClean="0">
                <a:effectLst/>
              </a:rPr>
              <a:t>Countries: USA, Germany, India, Canada </a:t>
            </a:r>
            <a:endParaRPr lang="en-US" sz="1800" dirty="0"/>
          </a:p>
          <a:p>
            <a:r>
              <a:rPr lang="en-US" sz="1800" dirty="0" smtClean="0">
                <a:effectLst/>
              </a:rPr>
              <a:t>Regions: North America, Asia, Europe</a:t>
            </a:r>
          </a:p>
          <a:p>
            <a:r>
              <a:rPr lang="en-US" dirty="0" smtClean="0"/>
              <a:t>This dataset </a:t>
            </a:r>
            <a:r>
              <a:rPr lang="en-US" dirty="0"/>
              <a:t>also includes </a:t>
            </a:r>
            <a:r>
              <a:rPr lang="en-US" dirty="0" smtClean="0"/>
              <a:t>numerical</a:t>
            </a:r>
            <a:r>
              <a:rPr lang="en-US" dirty="0"/>
              <a:t>, categorical, and date variables representing different aspects of company operations.</a:t>
            </a:r>
            <a:endParaRPr lang="en-US" dirty="0" smtClean="0">
              <a:effectLst/>
            </a:endParaRPr>
          </a:p>
          <a:p>
            <a:r>
              <a:rPr lang="en-US" dirty="0" smtClean="0">
                <a:effectLst/>
              </a:rPr>
              <a:t> Overall, </a:t>
            </a:r>
            <a:r>
              <a:rPr lang="en-US" dirty="0" smtClean="0"/>
              <a:t>it provides </a:t>
            </a:r>
            <a:r>
              <a:rPr lang="en-US" dirty="0"/>
              <a:t>a comprehensive view of company performance across multiple sectors and locations.</a:t>
            </a:r>
            <a:endParaRPr lang="en-US" dirty="0" smtClean="0">
              <a:effectLst/>
            </a:endParaRPr>
          </a:p>
          <a:p>
            <a:endParaRPr lang="en-US" dirty="0" smtClean="0">
              <a:effectLst/>
            </a:endParaRPr>
          </a:p>
          <a:p>
            <a:endParaRPr lang="en-US" dirty="0" smtClean="0">
              <a:effectLst/>
            </a:endParaRPr>
          </a:p>
          <a:p>
            <a:endParaRPr lang="en-US" dirty="0" smtClean="0">
              <a:effectLst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3871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Quality Assessment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study involves data preprocessing, descriptive statistical analysis, distribution analysis, outlier detection, correlation analysis, and multivariate comparisons. </a:t>
            </a:r>
            <a:endParaRPr lang="en-US" dirty="0" smtClean="0"/>
          </a:p>
          <a:p>
            <a:r>
              <a:rPr lang="en-US" dirty="0" smtClean="0"/>
              <a:t>Firstly, </a:t>
            </a:r>
            <a:r>
              <a:rPr lang="en-US" dirty="0"/>
              <a:t>Data quality checks were performed to ensure reliability and accuracy</a:t>
            </a:r>
            <a:r>
              <a:rPr lang="en-US" dirty="0" smtClean="0"/>
              <a:t>.</a:t>
            </a:r>
          </a:p>
          <a:p>
            <a:r>
              <a:rPr lang="en-US" dirty="0" smtClean="0"/>
              <a:t>I have cleaned the data, there were no </a:t>
            </a:r>
            <a:r>
              <a:rPr lang="en-US" dirty="0"/>
              <a:t>missing values </a:t>
            </a:r>
            <a:r>
              <a:rPr lang="en-US" dirty="0" smtClean="0"/>
              <a:t>found </a:t>
            </a:r>
            <a:r>
              <a:rPr lang="en-US" dirty="0"/>
              <a:t>across any of the variables</a:t>
            </a:r>
            <a:r>
              <a:rPr lang="en-US" dirty="0" smtClean="0"/>
              <a:t>.</a:t>
            </a:r>
          </a:p>
          <a:p>
            <a:r>
              <a:rPr lang="en-US" dirty="0"/>
              <a:t>No duplicate records were identified, confirming that each company appears only once</a:t>
            </a:r>
            <a:r>
              <a:rPr lang="en-US" dirty="0" smtClean="0"/>
              <a:t>.</a:t>
            </a:r>
          </a:p>
          <a:p>
            <a:r>
              <a:rPr lang="en-US" dirty="0" smtClean="0"/>
              <a:t>For easy analysis, I </a:t>
            </a:r>
            <a:r>
              <a:rPr lang="en-US" dirty="0"/>
              <a:t>have changed the created date to </a:t>
            </a:r>
            <a:r>
              <a:rPr lang="en-US" dirty="0" err="1"/>
              <a:t>datetime</a:t>
            </a:r>
            <a:r>
              <a:rPr lang="en-US" dirty="0"/>
              <a:t> format </a:t>
            </a:r>
            <a:r>
              <a:rPr lang="en-US" dirty="0" smtClean="0"/>
              <a:t>and checked for datatypes. I have done standardization of column names.</a:t>
            </a:r>
          </a:p>
          <a:p>
            <a:r>
              <a:rPr lang="en-US" dirty="0" smtClean="0"/>
              <a:t>With </a:t>
            </a:r>
            <a:r>
              <a:rPr lang="en-US" dirty="0"/>
              <a:t>all this, the dataset was clean and ready for further analysis without extensive preprocessing.</a:t>
            </a:r>
            <a:endParaRPr lang="en-US" dirty="0" smtClean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8814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48" y="245832"/>
            <a:ext cx="10058400" cy="1609344"/>
          </a:xfrm>
        </p:spPr>
        <p:txBody>
          <a:bodyPr/>
          <a:lstStyle/>
          <a:p>
            <a:r>
              <a:rPr lang="en-US" b="1" dirty="0" smtClean="0"/>
              <a:t>Univariate Analysis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1934307"/>
            <a:ext cx="10058400" cy="4349262"/>
          </a:xfrm>
        </p:spPr>
        <p:txBody>
          <a:bodyPr>
            <a:normAutofit/>
          </a:bodyPr>
          <a:lstStyle/>
          <a:p>
            <a:r>
              <a:rPr lang="en-US" dirty="0" smtClean="0"/>
              <a:t>Companies average 2,600 employees, $550M annual revenue, and 25% profit margin, Customer base averages ~50,000 per company</a:t>
            </a:r>
          </a:p>
          <a:p>
            <a:r>
              <a:rPr lang="en-US" dirty="0"/>
              <a:t>The uniform spread in employee count indicates that companies in this space come in many sizes but operate within a similar operational band.</a:t>
            </a:r>
          </a:p>
          <a:p>
            <a:r>
              <a:rPr lang="en-US" dirty="0"/>
              <a:t>Profitability is healthy and consistent across the board</a:t>
            </a:r>
            <a:r>
              <a:rPr lang="en-US" dirty="0" smtClean="0"/>
              <a:t>. The </a:t>
            </a:r>
            <a:r>
              <a:rPr lang="en-US" dirty="0"/>
              <a:t>market appears to reward operational efficiency fairly evenly</a:t>
            </a:r>
            <a:r>
              <a:rPr lang="en-US" dirty="0" smtClean="0"/>
              <a:t>.</a:t>
            </a:r>
          </a:p>
          <a:p>
            <a:r>
              <a:rPr lang="en-US" dirty="0" smtClean="0"/>
              <a:t>All numerical variables show near-zero skewness and </a:t>
            </a:r>
            <a:r>
              <a:rPr lang="en-IN" dirty="0"/>
              <a:t>kurtosis of roughly -</a:t>
            </a:r>
            <a:r>
              <a:rPr lang="en-IN" dirty="0" smtClean="0"/>
              <a:t>1.20 which shows that the </a:t>
            </a:r>
            <a:r>
              <a:rPr lang="en-US" dirty="0" smtClean="0"/>
              <a:t>distribution was uniform.</a:t>
            </a:r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145" y="4774824"/>
            <a:ext cx="6473393" cy="182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57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48" y="140446"/>
            <a:ext cx="10058400" cy="1609344"/>
          </a:xfrm>
        </p:spPr>
        <p:txBody>
          <a:bodyPr/>
          <a:lstStyle/>
          <a:p>
            <a:r>
              <a:rPr lang="en-US" dirty="0" smtClean="0"/>
              <a:t>Visualization of Numerical Distribution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1812622"/>
            <a:ext cx="10058400" cy="4050792"/>
          </a:xfrm>
        </p:spPr>
        <p:txBody>
          <a:bodyPr>
            <a:normAutofit/>
          </a:bodyPr>
          <a:lstStyle/>
          <a:p>
            <a:r>
              <a:rPr lang="en-US" sz="1800" dirty="0"/>
              <a:t>The distributions of numerical variables were examined using statistical measures and visualizations</a:t>
            </a:r>
            <a:r>
              <a:rPr lang="en-US" sz="1800" dirty="0" smtClean="0"/>
              <a:t>.</a:t>
            </a:r>
          </a:p>
          <a:p>
            <a:r>
              <a:rPr lang="en-US" sz="1800" dirty="0"/>
              <a:t>The </a:t>
            </a:r>
            <a:r>
              <a:rPr lang="en-US" dirty="0"/>
              <a:t>data</a:t>
            </a:r>
            <a:r>
              <a:rPr lang="en-US" sz="1800" dirty="0"/>
              <a:t> proves that financial success and business size are spread out </a:t>
            </a:r>
            <a:r>
              <a:rPr lang="en-US" sz="1800" dirty="0" smtClean="0"/>
              <a:t>evenly. This represents </a:t>
            </a:r>
            <a:r>
              <a:rPr lang="en-US" sz="1800" dirty="0"/>
              <a:t>medium-to-large enterprises operating at substantial commercial scale.</a:t>
            </a:r>
          </a:p>
          <a:p>
            <a:endParaRPr lang="en-US" sz="1800" dirty="0" smtClean="0"/>
          </a:p>
          <a:p>
            <a:endParaRPr lang="en-IN" sz="1800" dirty="0"/>
          </a:p>
        </p:txBody>
      </p:sp>
      <p:pic>
        <p:nvPicPr>
          <p:cNvPr id="4" name="Content Placeholder 3"/>
          <p:cNvPicPr>
            <a:picLocks noChangeAspect="1"/>
          </p:cNvPicPr>
          <p:nvPr/>
        </p:nvPicPr>
        <p:blipFill rotWithShape="1">
          <a:blip r:embed="rId2"/>
          <a:srcRect t="32923"/>
          <a:stretch/>
        </p:blipFill>
        <p:spPr>
          <a:xfrm>
            <a:off x="1793630" y="3104662"/>
            <a:ext cx="8090741" cy="373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01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2357" y="419985"/>
            <a:ext cx="4815168" cy="312229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4570" y="3647784"/>
            <a:ext cx="5157787" cy="312229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2357" y="3542277"/>
            <a:ext cx="4815168" cy="31222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85800" y="419985"/>
            <a:ext cx="6198578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 smtClean="0"/>
              <a:t>In Frequency distribution, we can see that, the data is perfectly balanced in all three </a:t>
            </a:r>
            <a:r>
              <a:rPr lang="en-US" sz="1700" dirty="0"/>
              <a:t>categorical variables, where no single participant, industry, or region holds an unfair advantage, and extreme data distortions are absent</a:t>
            </a:r>
            <a:r>
              <a:rPr lang="en-US" sz="17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 smtClean="0"/>
              <a:t>We can see that all 5 industry </a:t>
            </a:r>
            <a:r>
              <a:rPr lang="en-US" sz="1700" dirty="0"/>
              <a:t>contain equal representation with 3000 companies </a:t>
            </a:r>
            <a:r>
              <a:rPr lang="en-US" sz="1700" dirty="0" smtClean="0"/>
              <a:t>each.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/>
              <a:t>North America accounts for 50% of the dataset, while Asia and Europe each contribute 25%. This imbalance occurs because both USA and Canada fall under North America. </a:t>
            </a:r>
            <a:endParaRPr lang="en-US" sz="17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 smtClean="0"/>
              <a:t>As </a:t>
            </a:r>
            <a:r>
              <a:rPr lang="en-US" sz="1700" dirty="0"/>
              <a:t>a result, regional analysis may show stronger influence from North American companies compared to other regions.</a:t>
            </a:r>
          </a:p>
          <a:p>
            <a:endParaRPr lang="en-US" sz="1700" dirty="0"/>
          </a:p>
          <a:p>
            <a:endParaRPr lang="en-IN" sz="1700" dirty="0"/>
          </a:p>
        </p:txBody>
      </p:sp>
    </p:spTree>
    <p:extLst>
      <p:ext uri="{BB962C8B-B14F-4D97-AF65-F5344CB8AC3E}">
        <p14:creationId xmlns:p14="http://schemas.microsoft.com/office/powerpoint/2010/main" val="193590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069848" y="1661746"/>
            <a:ext cx="10058400" cy="4404946"/>
          </a:xfrm>
        </p:spPr>
        <p:txBody>
          <a:bodyPr/>
          <a:lstStyle/>
          <a:p>
            <a:r>
              <a:rPr lang="en-US" dirty="0"/>
              <a:t>Outlier analysis was conducted using boxplots, </a:t>
            </a:r>
            <a:r>
              <a:rPr lang="en-US" dirty="0" smtClean="0"/>
              <a:t>IQR methods</a:t>
            </a:r>
            <a:r>
              <a:rPr lang="en-US" dirty="0"/>
              <a:t>.</a:t>
            </a:r>
            <a:endParaRPr lang="en-US" dirty="0" smtClean="0"/>
          </a:p>
          <a:p>
            <a:r>
              <a:rPr lang="en-US" dirty="0" smtClean="0"/>
              <a:t>Zero </a:t>
            </a:r>
            <a:r>
              <a:rPr lang="en-US" dirty="0"/>
              <a:t>outliers detected across all variables (confirmed by IQR and boxplots</a:t>
            </a:r>
            <a:r>
              <a:rPr lang="en-US" dirty="0" smtClean="0"/>
              <a:t>)</a:t>
            </a:r>
          </a:p>
          <a:p>
            <a:r>
              <a:rPr lang="en-US" dirty="0"/>
              <a:t>The distributions are remarkably clean and </a:t>
            </a:r>
            <a:r>
              <a:rPr lang="en-US" dirty="0" smtClean="0"/>
              <a:t>symmetrical.</a:t>
            </a:r>
          </a:p>
          <a:p>
            <a:r>
              <a:rPr lang="en-US" dirty="0"/>
              <a:t>Extreme values were observed in revenue, employee count, and customer count, they were some of the largest companies in the </a:t>
            </a:r>
            <a:r>
              <a:rPr lang="en-US" dirty="0" smtClean="0"/>
              <a:t>market.</a:t>
            </a:r>
            <a:endParaRPr lang="en-US" dirty="0"/>
          </a:p>
          <a:p>
            <a:r>
              <a:rPr lang="en-US" dirty="0" smtClean="0"/>
              <a:t>This </a:t>
            </a:r>
            <a:r>
              <a:rPr lang="en-US" dirty="0"/>
              <a:t>reinforces the earlier observation of highly uniform, stable, and consistent data across the entire dataset.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069848" y="157910"/>
            <a:ext cx="10058400" cy="1609344"/>
          </a:xfrm>
        </p:spPr>
        <p:txBody>
          <a:bodyPr/>
          <a:lstStyle/>
          <a:p>
            <a:r>
              <a:rPr lang="en-US" dirty="0" smtClean="0"/>
              <a:t>Outliers Detection</a:t>
            </a:r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4461537"/>
            <a:ext cx="3310983" cy="198575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377" y="4461537"/>
            <a:ext cx="3364487" cy="20410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561" y="4461537"/>
            <a:ext cx="3244034" cy="196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7716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Bivariate Analysis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432335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correlation matrix and </a:t>
            </a:r>
            <a:r>
              <a:rPr lang="en-US" dirty="0" smtClean="0"/>
              <a:t>heat map </a:t>
            </a:r>
            <a:r>
              <a:rPr lang="en-US" dirty="0"/>
              <a:t>were used to identify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relationships </a:t>
            </a:r>
            <a:r>
              <a:rPr lang="en-US" dirty="0"/>
              <a:t>among numerical variables.</a:t>
            </a:r>
          </a:p>
          <a:p>
            <a:r>
              <a:rPr lang="en-US" dirty="0" smtClean="0"/>
              <a:t>The </a:t>
            </a:r>
            <a:r>
              <a:rPr lang="en-US" dirty="0"/>
              <a:t>correlation matrix reveals extremely weak or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no </a:t>
            </a:r>
            <a:r>
              <a:rPr lang="en-US" dirty="0"/>
              <a:t>linear relationships between all key </a:t>
            </a:r>
            <a:r>
              <a:rPr lang="en-US" dirty="0" smtClean="0"/>
              <a:t>variables.</a:t>
            </a:r>
            <a:endParaRPr lang="en-US" dirty="0"/>
          </a:p>
          <a:p>
            <a:r>
              <a:rPr lang="en-US" dirty="0" smtClean="0"/>
              <a:t>Company size (employees) has almost no impact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on revenue, profit, or customer count</a:t>
            </a:r>
          </a:p>
          <a:p>
            <a:r>
              <a:rPr lang="en-US" dirty="0" smtClean="0"/>
              <a:t>No meaningful relationship between market rating </a:t>
            </a:r>
          </a:p>
          <a:p>
            <a:pPr marL="0" indent="0">
              <a:buNone/>
            </a:pPr>
            <a:r>
              <a:rPr lang="en-US" dirty="0" smtClean="0"/>
              <a:t>    and profitability</a:t>
            </a:r>
          </a:p>
          <a:p>
            <a:r>
              <a:rPr lang="en-US" dirty="0" smtClean="0"/>
              <a:t>Age of company (founded year) shows negligible </a:t>
            </a:r>
            <a:endParaRPr lang="en-US" dirty="0"/>
          </a:p>
          <a:p>
            <a:pPr marL="0" indent="0">
              <a:buNone/>
            </a:pPr>
            <a:r>
              <a:rPr lang="en-US" dirty="0" smtClean="0"/>
              <a:t>    influence on performance</a:t>
            </a:r>
          </a:p>
          <a:p>
            <a:r>
              <a:rPr lang="en-US" dirty="0"/>
              <a:t>Employee count has almost zero correlation </a:t>
            </a:r>
            <a:r>
              <a:rPr lang="en-US" dirty="0" smtClean="0"/>
              <a:t>with revenue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(-</a:t>
            </a:r>
            <a:r>
              <a:rPr lang="en-US" dirty="0"/>
              <a:t>0.002</a:t>
            </a:r>
            <a:r>
              <a:rPr lang="en-US" dirty="0" smtClean="0"/>
              <a:t>), profit </a:t>
            </a:r>
            <a:r>
              <a:rPr lang="en-US" dirty="0"/>
              <a:t>margin (-0.003), customer </a:t>
            </a:r>
            <a:r>
              <a:rPr lang="en-US" dirty="0" smtClean="0"/>
              <a:t>count </a:t>
            </a:r>
            <a:r>
              <a:rPr lang="en-US" dirty="0"/>
              <a:t>(-0.012), or market rating (-0.009</a:t>
            </a:r>
            <a:r>
              <a:rPr lang="en-US" dirty="0" smtClean="0"/>
              <a:t>).</a:t>
            </a:r>
          </a:p>
          <a:p>
            <a:r>
              <a:rPr lang="en-US" dirty="0"/>
              <a:t>No severe </a:t>
            </a:r>
            <a:r>
              <a:rPr lang="en-US" dirty="0" err="1"/>
              <a:t>multicollinearity</a:t>
            </a:r>
            <a:r>
              <a:rPr lang="en-US" dirty="0"/>
              <a:t> was detected among the variables.</a:t>
            </a:r>
          </a:p>
          <a:p>
            <a:endParaRPr lang="en-US" dirty="0"/>
          </a:p>
        </p:txBody>
      </p:sp>
      <p:pic>
        <p:nvPicPr>
          <p:cNvPr id="4" name="Content Placeholder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6261" y="1476384"/>
            <a:ext cx="4950070" cy="4300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04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399" y="310193"/>
            <a:ext cx="5855678" cy="5938847"/>
          </a:xfrm>
          <a:prstGeom prst="rect">
            <a:avLst/>
          </a:prstGeom>
        </p:spPr>
      </p:pic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12649" y="934447"/>
            <a:ext cx="10058400" cy="4050792"/>
          </a:xfrm>
        </p:spPr>
        <p:txBody>
          <a:bodyPr>
            <a:noAutofit/>
          </a:bodyPr>
          <a:lstStyle/>
          <a:p>
            <a:r>
              <a:rPr lang="en-US" sz="1800" dirty="0"/>
              <a:t>The scatter plots and regression results </a:t>
            </a:r>
            <a:r>
              <a:rPr lang="en-US" sz="1800" dirty="0" smtClean="0"/>
              <a:t>confirm </a:t>
            </a:r>
          </a:p>
          <a:p>
            <a:pPr marL="0" indent="0">
              <a:buNone/>
            </a:pPr>
            <a:r>
              <a:rPr lang="en-US" sz="1800" dirty="0"/>
              <a:t> </a:t>
            </a:r>
            <a:r>
              <a:rPr lang="en-US" sz="1800" dirty="0" smtClean="0"/>
              <a:t>  complete </a:t>
            </a:r>
            <a:r>
              <a:rPr lang="en-US" sz="1800" dirty="0"/>
              <a:t>absence of </a:t>
            </a:r>
            <a:r>
              <a:rPr lang="en-US" sz="1800" dirty="0" smtClean="0"/>
              <a:t>meaningful relationships</a:t>
            </a:r>
          </a:p>
          <a:p>
            <a:pPr marL="0" indent="0">
              <a:buNone/>
            </a:pPr>
            <a:r>
              <a:rPr lang="en-US" sz="1800" dirty="0"/>
              <a:t> </a:t>
            </a:r>
            <a:r>
              <a:rPr lang="en-US" sz="1800" dirty="0" smtClean="0"/>
              <a:t>  </a:t>
            </a:r>
            <a:r>
              <a:rPr lang="en-US" sz="1800" dirty="0"/>
              <a:t>across all variable pairs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Random </a:t>
            </a:r>
            <a:r>
              <a:rPr lang="en-US" sz="1800" dirty="0"/>
              <a:t>scatter </a:t>
            </a:r>
            <a:r>
              <a:rPr lang="en-US" sz="1800" dirty="0" smtClean="0"/>
              <a:t>of all the mentioned graphs</a:t>
            </a:r>
          </a:p>
          <a:p>
            <a:pPr marL="0" indent="0">
              <a:buNone/>
            </a:pPr>
            <a:r>
              <a:rPr lang="en-US" sz="1800" dirty="0" smtClean="0"/>
              <a:t>   shows </a:t>
            </a:r>
            <a:r>
              <a:rPr lang="en-US" sz="1800" dirty="0"/>
              <a:t>R² ≈ 0.000 and high p-values (&gt;0.14), </a:t>
            </a:r>
            <a:endParaRPr lang="en-US" sz="1800" dirty="0" smtClean="0"/>
          </a:p>
          <a:p>
            <a:pPr marL="0" indent="0">
              <a:buNone/>
            </a:pPr>
            <a:r>
              <a:rPr lang="en-US" sz="1800" dirty="0"/>
              <a:t> </a:t>
            </a:r>
            <a:r>
              <a:rPr lang="en-US" sz="1800" dirty="0" smtClean="0"/>
              <a:t>  indicating </a:t>
            </a:r>
            <a:r>
              <a:rPr lang="en-US" sz="1800" dirty="0"/>
              <a:t>no linear patterns or predictive power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This shows there </a:t>
            </a:r>
            <a:r>
              <a:rPr lang="en-US" sz="1800" dirty="0"/>
              <a:t>are no clear drivers of </a:t>
            </a:r>
            <a:r>
              <a:rPr lang="en-US" sz="1800" dirty="0" smtClean="0"/>
              <a:t>success</a:t>
            </a:r>
          </a:p>
          <a:p>
            <a:pPr marL="0" indent="0">
              <a:buNone/>
            </a:pPr>
            <a:r>
              <a:rPr lang="en-US" sz="1800" dirty="0" smtClean="0"/>
              <a:t>   in </a:t>
            </a:r>
            <a:r>
              <a:rPr lang="en-US" sz="1800" dirty="0"/>
              <a:t>this ecosystem</a:t>
            </a:r>
            <a:r>
              <a:rPr lang="en-US" sz="1800" dirty="0" smtClean="0"/>
              <a:t>.</a:t>
            </a:r>
          </a:p>
          <a:p>
            <a:r>
              <a:rPr lang="en-US" sz="1800" dirty="0"/>
              <a:t>T</a:t>
            </a:r>
            <a:r>
              <a:rPr lang="en-US" sz="1800" dirty="0" smtClean="0"/>
              <a:t>he </a:t>
            </a:r>
            <a:r>
              <a:rPr lang="en-US" sz="1800" dirty="0"/>
              <a:t>scatter plots and regression results confirm </a:t>
            </a:r>
            <a:endParaRPr lang="en-US" sz="1800" dirty="0" smtClean="0"/>
          </a:p>
          <a:p>
            <a:pPr marL="0" indent="0">
              <a:buNone/>
            </a:pPr>
            <a:r>
              <a:rPr lang="en-US" sz="1800" dirty="0" smtClean="0"/>
              <a:t>   complete </a:t>
            </a:r>
            <a:r>
              <a:rPr lang="en-US" sz="1800" dirty="0"/>
              <a:t>absence of meaningful relationships </a:t>
            </a:r>
            <a:endParaRPr lang="en-US" sz="1800" dirty="0" smtClean="0"/>
          </a:p>
          <a:p>
            <a:pPr marL="0" indent="0">
              <a:buNone/>
            </a:pPr>
            <a:r>
              <a:rPr lang="en-US" sz="1800" dirty="0"/>
              <a:t> </a:t>
            </a:r>
            <a:r>
              <a:rPr lang="en-US" sz="1800" dirty="0" smtClean="0"/>
              <a:t>  across </a:t>
            </a:r>
            <a:r>
              <a:rPr lang="en-US" sz="1800" dirty="0"/>
              <a:t>all variable pairs and they operate entirely </a:t>
            </a:r>
            <a:endParaRPr lang="en-US" sz="1800" dirty="0" smtClean="0"/>
          </a:p>
          <a:p>
            <a:pPr marL="0" indent="0">
              <a:buNone/>
            </a:pPr>
            <a:r>
              <a:rPr lang="en-US" sz="1800" dirty="0"/>
              <a:t> </a:t>
            </a:r>
            <a:r>
              <a:rPr lang="en-US" sz="1800" dirty="0" smtClean="0"/>
              <a:t>  independently</a:t>
            </a:r>
            <a:r>
              <a:rPr lang="en-US" sz="1800" dirty="0"/>
              <a:t>.</a:t>
            </a:r>
          </a:p>
          <a:p>
            <a:endParaRPr lang="en-US" sz="1800" dirty="0"/>
          </a:p>
          <a:p>
            <a:endParaRPr lang="en-US" sz="1800" dirty="0"/>
          </a:p>
          <a:p>
            <a:pPr marL="0" indent="0">
              <a:buNone/>
            </a:pPr>
            <a:endParaRPr lang="en-US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402520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48" y="276810"/>
            <a:ext cx="10058400" cy="1609344"/>
          </a:xfrm>
        </p:spPr>
        <p:txBody>
          <a:bodyPr/>
          <a:lstStyle/>
          <a:p>
            <a:r>
              <a:rPr lang="en-IN" dirty="0"/>
              <a:t>Bivariate </a:t>
            </a:r>
            <a:r>
              <a:rPr lang="en-IN" dirty="0" smtClean="0"/>
              <a:t>Outliers- </a:t>
            </a:r>
            <a:r>
              <a:rPr lang="en-US" dirty="0" smtClean="0"/>
              <a:t>Box Plots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4340" y="2123870"/>
            <a:ext cx="10058400" cy="4050792"/>
          </a:xfrm>
        </p:spPr>
        <p:txBody>
          <a:bodyPr/>
          <a:lstStyle/>
          <a:p>
            <a:r>
              <a:rPr lang="en-US" dirty="0" smtClean="0"/>
              <a:t>Boxplots are very important in this EDA because they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help us compare distributions across categorical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groups (Industry, Country, Region) against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numerical variables, going beyond simple averages.</a:t>
            </a:r>
          </a:p>
          <a:p>
            <a:r>
              <a:rPr lang="en-US" dirty="0" smtClean="0"/>
              <a:t>We can </a:t>
            </a:r>
            <a:r>
              <a:rPr lang="en-US" dirty="0"/>
              <a:t>visually confirm there are no significant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outliers </a:t>
            </a:r>
            <a:r>
              <a:rPr lang="en-US" dirty="0"/>
              <a:t>within any industry/country/region,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maintaining </a:t>
            </a:r>
            <a:r>
              <a:rPr lang="en-US" dirty="0"/>
              <a:t>the "clean &amp; balanced" story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Hence, proving </a:t>
            </a:r>
            <a:r>
              <a:rPr lang="en-US" dirty="0"/>
              <a:t>distributions are almost </a:t>
            </a:r>
            <a:r>
              <a:rPr lang="en-US" dirty="0" smtClean="0"/>
              <a:t>identical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</a:t>
            </a:r>
            <a:r>
              <a:rPr lang="en-US" dirty="0"/>
              <a:t>across groups.</a:t>
            </a:r>
          </a:p>
          <a:p>
            <a:endParaRPr lang="en-US" dirty="0"/>
          </a:p>
          <a:p>
            <a:endParaRPr lang="en-US" dirty="0" smtClean="0"/>
          </a:p>
          <a:p>
            <a:endParaRPr lang="en-US" dirty="0" smtClean="0"/>
          </a:p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216" y="1648438"/>
            <a:ext cx="4937203" cy="170903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5636" y="3372417"/>
            <a:ext cx="4966364" cy="173329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636" y="5105711"/>
            <a:ext cx="4994996" cy="1740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61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48" y="343955"/>
            <a:ext cx="10058400" cy="1609344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Multivariate &amp; Segment Analysis</a:t>
            </a:r>
            <a:br>
              <a:rPr lang="en-US" b="1" dirty="0" smtClean="0"/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1646624"/>
            <a:ext cx="10058400" cy="4050792"/>
          </a:xfrm>
        </p:spPr>
        <p:txBody>
          <a:bodyPr/>
          <a:lstStyle/>
          <a:p>
            <a:r>
              <a:rPr lang="en-US" dirty="0"/>
              <a:t>Multivariate analysis examined how multiple variables interact </a:t>
            </a:r>
            <a:r>
              <a:rPr lang="en-US" dirty="0" smtClean="0"/>
              <a:t>together.</a:t>
            </a:r>
          </a:p>
          <a:p>
            <a:r>
              <a:rPr lang="en-US" dirty="0"/>
              <a:t>Even when combining factors, differences remain extremely small and insignificant</a:t>
            </a:r>
            <a:r>
              <a:rPr lang="en-US" dirty="0" smtClean="0"/>
              <a:t>.</a:t>
            </a:r>
            <a:endParaRPr lang="en-US" dirty="0" smtClean="0"/>
          </a:p>
          <a:p>
            <a:r>
              <a:rPr lang="en-US" dirty="0" smtClean="0"/>
              <a:t>In Industry variable, there is near </a:t>
            </a:r>
            <a:r>
              <a:rPr lang="en-US" dirty="0" smtClean="0"/>
              <a:t>identical performance across all </a:t>
            </a:r>
            <a:r>
              <a:rPr lang="en-US" dirty="0" smtClean="0"/>
              <a:t>sectors.</a:t>
            </a:r>
          </a:p>
          <a:p>
            <a:r>
              <a:rPr lang="en-US" dirty="0"/>
              <a:t>Average revenue, profit margin, employee count, and customer base stay very consistent across all </a:t>
            </a:r>
            <a:r>
              <a:rPr lang="en-US" dirty="0" smtClean="0"/>
              <a:t>combinations.</a:t>
            </a:r>
          </a:p>
          <a:p>
            <a:r>
              <a:rPr lang="en-US" dirty="0"/>
              <a:t>No industry performs dramatically better in any specific region or country.</a:t>
            </a:r>
          </a:p>
          <a:p>
            <a:endParaRPr lang="en-US" dirty="0"/>
          </a:p>
        </p:txBody>
      </p:sp>
      <p:pic>
        <p:nvPicPr>
          <p:cNvPr id="4" name="Content Placeholder 5"/>
          <p:cNvPicPr>
            <a:picLocks noChangeAspect="1"/>
          </p:cNvPicPr>
          <p:nvPr/>
        </p:nvPicPr>
        <p:blipFill rotWithShape="1">
          <a:blip r:embed="rId2"/>
          <a:srcRect b="51244"/>
          <a:stretch/>
        </p:blipFill>
        <p:spPr>
          <a:xfrm>
            <a:off x="1130890" y="4067674"/>
            <a:ext cx="9936316" cy="266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9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7963" y="354154"/>
            <a:ext cx="10058400" cy="4050792"/>
          </a:xfrm>
        </p:spPr>
        <p:txBody>
          <a:bodyPr/>
          <a:lstStyle/>
          <a:p>
            <a:r>
              <a:rPr lang="en-US" dirty="0" smtClean="0"/>
              <a:t>Countries </a:t>
            </a:r>
            <a:r>
              <a:rPr lang="en-US" dirty="0"/>
              <a:t>&amp; Regions have very consistent results, no country or region significantly outperforms others.</a:t>
            </a:r>
          </a:p>
          <a:p>
            <a:r>
              <a:rPr lang="en-US" dirty="0" smtClean="0"/>
              <a:t>When </a:t>
            </a:r>
            <a:r>
              <a:rPr lang="en-US" dirty="0"/>
              <a:t>examining combinations of variables like Industry × Region, Country × Industry, Region × Market Rating, etc., differences remain extremely small and insignificant.</a:t>
            </a:r>
          </a:p>
          <a:p>
            <a:r>
              <a:rPr lang="en-US" dirty="0" smtClean="0"/>
              <a:t>Average </a:t>
            </a:r>
            <a:r>
              <a:rPr lang="en-US" dirty="0"/>
              <a:t>revenue stays tightly clustered (540M–560M) across all industries and regions.</a:t>
            </a:r>
          </a:p>
          <a:p>
            <a:r>
              <a:rPr lang="en-US" dirty="0" smtClean="0"/>
              <a:t>Employee </a:t>
            </a:r>
            <a:r>
              <a:rPr lang="en-US" dirty="0"/>
              <a:t>count, customer count (~50K), and profit margin (~25%) show almost identical patterns regardless of industry, country, or region.</a:t>
            </a:r>
          </a:p>
          <a:p>
            <a:r>
              <a:rPr lang="en-US" dirty="0" smtClean="0"/>
              <a:t>No </a:t>
            </a:r>
            <a:r>
              <a:rPr lang="en-US" dirty="0"/>
              <a:t>meaningful interactions emerge e.g., higher market ratings do not consistently deliver better margins, and no industry dominates in any geography.</a:t>
            </a:r>
          </a:p>
          <a:p>
            <a:endParaRPr lang="en-IN" dirty="0"/>
          </a:p>
        </p:txBody>
      </p:sp>
      <p:pic>
        <p:nvPicPr>
          <p:cNvPr id="4" name="Content Placeholder 5"/>
          <p:cNvPicPr>
            <a:picLocks noChangeAspect="1"/>
          </p:cNvPicPr>
          <p:nvPr/>
        </p:nvPicPr>
        <p:blipFill rotWithShape="1">
          <a:blip r:embed="rId2"/>
          <a:srcRect t="48541"/>
          <a:stretch/>
        </p:blipFill>
        <p:spPr>
          <a:xfrm>
            <a:off x="937963" y="3917462"/>
            <a:ext cx="9936316" cy="2808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145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9953" y="474784"/>
            <a:ext cx="10841001" cy="602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7456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 smtClean="0"/>
              <a:t>Skewness and Kurtosis Interpretation: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1953299"/>
            <a:ext cx="10058400" cy="4050792"/>
          </a:xfrm>
        </p:spPr>
        <p:txBody>
          <a:bodyPr/>
          <a:lstStyle/>
          <a:p>
            <a:r>
              <a:rPr lang="en-US" dirty="0"/>
              <a:t>All variables have skewness values very close to 0 (between -0.02 and 0.03), indicating that the distributions are approximately symmetric with no significant left or right skew.</a:t>
            </a:r>
          </a:p>
          <a:p>
            <a:r>
              <a:rPr lang="en-US" dirty="0" smtClean="0"/>
              <a:t>The </a:t>
            </a:r>
            <a:r>
              <a:rPr lang="en-US" dirty="0"/>
              <a:t>kurtosis values are all around -1.2, which suggests </a:t>
            </a:r>
            <a:r>
              <a:rPr lang="en-US" dirty="0" err="1"/>
              <a:t>platykurtic</a:t>
            </a:r>
            <a:r>
              <a:rPr lang="en-US" dirty="0"/>
              <a:t> distributions. This means the distributions are flatter than a normal distribution and have lighter tails</a:t>
            </a:r>
            <a:r>
              <a:rPr lang="en-US" dirty="0" smtClean="0"/>
              <a:t>.</a:t>
            </a:r>
          </a:p>
          <a:p>
            <a:r>
              <a:rPr lang="en-US" dirty="0"/>
              <a:t>W</a:t>
            </a:r>
            <a:r>
              <a:rPr lang="en-US" dirty="0" smtClean="0"/>
              <a:t>e </a:t>
            </a:r>
            <a:r>
              <a:rPr lang="en-US" dirty="0"/>
              <a:t>can conclude that the skewness and kurtosis analysis suggests that the business metrics are generally well-balanced, symmetric, and free from extreme observations.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033" y="4444881"/>
            <a:ext cx="4669002" cy="2044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295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Overall Conclusion</a:t>
            </a:r>
            <a:br>
              <a:rPr lang="en-US" b="1" dirty="0" smtClean="0"/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1910392"/>
            <a:ext cx="10058400" cy="4050792"/>
          </a:xfrm>
        </p:spPr>
        <p:txBody>
          <a:bodyPr/>
          <a:lstStyle/>
          <a:p>
            <a:r>
              <a:rPr lang="en-US" dirty="0"/>
              <a:t>The analysis successfully explored company performance across industries, countries, and regions.</a:t>
            </a:r>
            <a:endParaRPr lang="en-US" dirty="0" smtClean="0"/>
          </a:p>
          <a:p>
            <a:r>
              <a:rPr lang="en-US" dirty="0" smtClean="0"/>
              <a:t>The </a:t>
            </a:r>
            <a:r>
              <a:rPr lang="en-US" dirty="0" smtClean="0"/>
              <a:t>industry represents a mature, fair, and highly competitive </a:t>
            </a:r>
            <a:r>
              <a:rPr lang="en-US" dirty="0" smtClean="0"/>
              <a:t>ecosystem.</a:t>
            </a:r>
            <a:endParaRPr lang="en-US" dirty="0" smtClean="0"/>
          </a:p>
          <a:p>
            <a:r>
              <a:rPr lang="en-US" dirty="0" smtClean="0"/>
              <a:t>Success is evenly distributed </a:t>
            </a:r>
            <a:r>
              <a:rPr lang="en-US" dirty="0" smtClean="0"/>
              <a:t>and </a:t>
            </a:r>
            <a:r>
              <a:rPr lang="en-US" dirty="0" smtClean="0"/>
              <a:t>not driven by company size, industry, geography, or </a:t>
            </a:r>
            <a:r>
              <a:rPr lang="en-US" dirty="0" smtClean="0"/>
              <a:t>age.</a:t>
            </a:r>
          </a:p>
          <a:p>
            <a:r>
              <a:rPr lang="en-US" dirty="0"/>
              <a:t>Market perception played an important role in profitability, while company age showed limited influence.</a:t>
            </a:r>
            <a:endParaRPr lang="en-US" dirty="0" smtClean="0"/>
          </a:p>
          <a:p>
            <a:r>
              <a:rPr lang="en-US" dirty="0" smtClean="0"/>
              <a:t>This is an e</a:t>
            </a:r>
            <a:r>
              <a:rPr lang="en-US" dirty="0" smtClean="0"/>
              <a:t>xceptionally </a:t>
            </a:r>
            <a:r>
              <a:rPr lang="en-US" dirty="0" smtClean="0"/>
              <a:t>clean dataset with high stability and low </a:t>
            </a:r>
            <a:r>
              <a:rPr lang="en-US" dirty="0" smtClean="0"/>
              <a:t>variability.</a:t>
            </a:r>
          </a:p>
          <a:p>
            <a:r>
              <a:rPr lang="en-US" dirty="0"/>
              <a:t>These insights establish clear benchmarks and provide a factual foundation for our upcoming business decisions.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740039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Business </a:t>
            </a:r>
            <a:r>
              <a:rPr lang="en-US" b="1" dirty="0" smtClean="0"/>
              <a:t>Implications</a:t>
            </a:r>
            <a:r>
              <a:rPr lang="en-US" b="1" dirty="0" smtClean="0"/>
              <a:t/>
            </a:r>
            <a:br>
              <a:rPr lang="en-US" b="1" dirty="0" smtClean="0"/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848" y="1822470"/>
            <a:ext cx="10058400" cy="4050792"/>
          </a:xfrm>
        </p:spPr>
        <p:txBody>
          <a:bodyPr/>
          <a:lstStyle/>
          <a:p>
            <a:r>
              <a:rPr lang="en-US" dirty="0"/>
              <a:t>The analysis indicates that business success is driven more by operational scale, customer reach, and market perception than by company age</a:t>
            </a:r>
            <a:r>
              <a:rPr lang="en-US" dirty="0" smtClean="0"/>
              <a:t>.</a:t>
            </a:r>
          </a:p>
          <a:p>
            <a:r>
              <a:rPr lang="en-US" dirty="0"/>
              <a:t>The dataset portrays a diverse and competitive business environment where companies vary significantly in workforce size, customer reach, profitability, and revenue generation. </a:t>
            </a:r>
            <a:endParaRPr lang="en-US" dirty="0" smtClean="0"/>
          </a:p>
          <a:p>
            <a:r>
              <a:rPr lang="en-US" dirty="0"/>
              <a:t>Despite these differences, the distributions remain relatively balanced, indicating that success is not concentrated among a few organizations</a:t>
            </a:r>
            <a:r>
              <a:rPr lang="en-US" dirty="0" smtClean="0"/>
              <a:t>.</a:t>
            </a:r>
          </a:p>
          <a:p>
            <a:r>
              <a:rPr lang="en-US" dirty="0"/>
              <a:t>Companies seeking growth should focus on expanding their customer base, improving operational efficiency, and strengthening market reputation, as these factors are likely to have the greatest impact on long-term business performance.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4001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15955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THANK YOU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831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Wood Type">
      <a:majorFont>
        <a:latin typeface="Arial Black" panose="020B0A04020102020204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 panose="020B0604020202020204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BE1B6DD8-9976-4550-A6F4-B2DD4EA939D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298</TotalTime>
  <Words>1454</Words>
  <Application>Microsoft Office PowerPoint</Application>
  <PresentationFormat>Widescreen</PresentationFormat>
  <Paragraphs>119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Arial Black</vt:lpstr>
      <vt:lpstr>Wingdings</vt:lpstr>
      <vt:lpstr>Wood Type</vt:lpstr>
      <vt:lpstr>Exploratory Data Analysis of Large-Scale Industry Performance Dataset Using Univariate, Bivariate, and Multivariate Statistical Techniques</vt:lpstr>
      <vt:lpstr>Introduction</vt:lpstr>
      <vt:lpstr>Dataset Overview </vt:lpstr>
      <vt:lpstr>Data Quality Assessment</vt:lpstr>
      <vt:lpstr>Univariate Analysis </vt:lpstr>
      <vt:lpstr>Visualization of Numerical Distribution</vt:lpstr>
      <vt:lpstr>PowerPoint Presentation</vt:lpstr>
      <vt:lpstr>Outliers Detection</vt:lpstr>
      <vt:lpstr>Bivariate Analysis </vt:lpstr>
      <vt:lpstr>PowerPoint Presentation</vt:lpstr>
      <vt:lpstr>Bivariate Outliers- Box Plots</vt:lpstr>
      <vt:lpstr>Multivariate &amp; Segment Analysis </vt:lpstr>
      <vt:lpstr>PowerPoint Presentation</vt:lpstr>
      <vt:lpstr>PowerPoint Presentation</vt:lpstr>
      <vt:lpstr>Skewness and Kurtosis Interpretation: </vt:lpstr>
      <vt:lpstr>Overall Conclusion </vt:lpstr>
      <vt:lpstr>Business Implications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Data Analysis of Large-Scale Industry Performance Dataset Using Univariate, Bivariate, and Multivariate Statistical Techniques</dc:title>
  <dc:creator>priyanka kale</dc:creator>
  <cp:lastModifiedBy>priyanka kale</cp:lastModifiedBy>
  <cp:revision>27</cp:revision>
  <dcterms:created xsi:type="dcterms:W3CDTF">2026-06-05T15:53:51Z</dcterms:created>
  <dcterms:modified xsi:type="dcterms:W3CDTF">2026-06-06T16:56:33Z</dcterms:modified>
</cp:coreProperties>
</file>